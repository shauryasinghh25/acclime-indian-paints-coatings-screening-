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394960"/>
            <a:ext cx="1168603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A01E"/>
                </a:solidFill>
                <a:latin typeface="Calibri"/>
              </a:rPr>
              <a:t>ACCLIME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D8"/>
                </a:solidFill>
                <a:latin typeface="Calibri"/>
              </a:rPr>
              <a:t>STRATEGY &amp; AI INTERNSHIP  |  DEAL ORIGINATION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Indian Paints &amp; Coatings Industry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1635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E8A01E"/>
                </a:solidFill>
                <a:latin typeface="Calibri"/>
              </a:rPr>
              <a:t>M&amp;A Target Screening — Verified Acquisition Intelligence 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D8EA"/>
                </a:solidFill>
                <a:latin typeface="Calibri"/>
              </a:rPr>
              <a:t>Screening Mandate:  Identify verified manufacturers &lt; ₹1,000 Cr revenue for strategic acquisition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2011680" cy="1051560"/>
          </a:xfrm>
          <a:prstGeom prst="rect">
            <a:avLst/>
          </a:prstGeom>
          <a:solidFill>
            <a:srgbClr val="12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6451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A01E"/>
                </a:solidFill>
                <a:latin typeface="Calibri"/>
              </a:rPr>
              <a:t>123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1755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CCE2"/>
                </a:solidFill>
                <a:latin typeface="Calibri"/>
              </a:rPr>
              <a:t>Corporate Entities
Analyzed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90672" y="4572000"/>
            <a:ext cx="2011680" cy="1051560"/>
          </a:xfrm>
          <a:prstGeom prst="rect">
            <a:avLst/>
          </a:prstGeom>
          <a:solidFill>
            <a:srgbClr val="12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46451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A01E"/>
                </a:solidFill>
                <a:latin typeface="Calibri"/>
              </a:rPr>
              <a:t>111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51755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CCE2"/>
                </a:solidFill>
                <a:latin typeface="Calibri"/>
              </a:rPr>
              <a:t>Verified Acquisition
Targets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66944" y="4572000"/>
            <a:ext cx="2011680" cy="1051560"/>
          </a:xfrm>
          <a:prstGeom prst="rect">
            <a:avLst/>
          </a:prstGeom>
          <a:solidFill>
            <a:srgbClr val="12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12664" y="46451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A01E"/>
                </a:solidFill>
                <a:latin typeface="Calibri"/>
              </a:rPr>
              <a:t>648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2664" y="51755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CCE2"/>
                </a:solidFill>
                <a:latin typeface="Calibri"/>
              </a:rPr>
              <a:t>Evidence
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43216" y="4572000"/>
            <a:ext cx="2011680" cy="1051560"/>
          </a:xfrm>
          <a:prstGeom prst="rect">
            <a:avLst/>
          </a:prstGeom>
          <a:solidFill>
            <a:srgbClr val="12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46451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A01E"/>
                </a:solidFill>
                <a:latin typeface="Calibri"/>
              </a:rPr>
              <a:t>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51755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CCE2"/>
                </a:solidFill>
                <a:latin typeface="Calibri"/>
              </a:rPr>
              <a:t>Indian States
Mapped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9488" y="4572000"/>
            <a:ext cx="2011680" cy="1051560"/>
          </a:xfrm>
          <a:prstGeom prst="rect">
            <a:avLst/>
          </a:prstGeom>
          <a:solidFill>
            <a:srgbClr val="12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65208" y="46451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E8A01E"/>
                </a:solidFill>
                <a:latin typeface="Calibri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5175504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B0CCE2"/>
                </a:solidFill>
                <a:latin typeface="Calibri"/>
              </a:rPr>
              <a:t>CIN-Verified
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492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90B0"/>
                </a:solidFill>
                <a:latin typeface="Calibri"/>
              </a:rPr>
              <a:t>Prepared by: Shaurya Singh  |  singhshaurya520@gmail.com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Scope, Methodology, Key Findings &amp; Strategic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214884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3312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142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3852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Total Candidates
Discovered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48840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353312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3852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Canonical Corporate
Entities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280160"/>
            <a:ext cx="2148840" cy="1051560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353312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93852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Shortlisted Targets
&lt; ₹1,000 Cr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1280160"/>
            <a:ext cx="2148840" cy="10515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78040" y="1353312"/>
            <a:ext cx="1965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1938528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Excluded (PASS)
&gt; ₹1,000 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1280160"/>
            <a:ext cx="2468880" cy="105156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1353312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648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93852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Evidence Citations
(100% URL)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42032"/>
            <a:ext cx="539496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7860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MANDATE &amp; 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798064"/>
            <a:ext cx="53949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Screen Indian paints &amp; coatings manufacturers with revenue &lt; ₹1,000 crore as M&amp;A targets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8 coating segments: Wood/PU, Heavy-Duty Protective/Marine, Powder, Decorative, Specialty Architectural, Coil/Metal, Industrial Resins, Construction Chemicals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Zero-hallucination mandate: Every data point linked to MCA, Screener.in, CRISIL/CARE, BSE/NSE, or primary company sources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Automated Python pipeline: Discovery → Enrichment → Cleaning → Financial Analysis → Screening → Evidence Validation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2542032"/>
            <a:ext cx="580644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2578608"/>
            <a:ext cx="5623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2798064"/>
            <a:ext cx="5806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India's organized paint sector has 100+ viable SME/unlisted manufacturers — well below radar of large acquirers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Median shortlisted revenue: ₹36.2 Cr — significant room for consolidation and scale-up post-acquisition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90% of targets are unlisted or SME listed — limited public disclosure, high information asymmetry advantage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Top segments by target count: Decorative/Architectural (22), Powder Coatings (9), Industrial Protective (5)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Geographic clusters: Maharashtra (26 plants), Gujarat (21), Tamil Nadu (15) — aligned with industrial corridors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1A1A2E"/>
                </a:solidFill>
                <a:latin typeface="Calibri"/>
              </a:rPr>
              <a:t>▸ Top-quality targets identified: Sirca Paints (20.1% EBITDA), Jyoti Resins (27.0%), Grand Polycoats (14.6%)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617720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654296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STRATEGIC CONCLUSION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87375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The Indian paints sub-₹1,000 Cr segment offers a deep, accessible, and highly fragmented M&amp;A hunting ground. Multiple sub-segments (specialty wood, powder coatings, heavy-duty protective) are operating at premium margins with minimal debt. Targeted outreach to 5 priority candidates could unlock high-value, low-competition acquisitions in FY2026–27.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Market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Indian Paints &amp; Coatings — Segment Universe &amp; Manufacturer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694944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6766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8 TARGET COATING SEGMENTS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17904"/>
            <a:ext cx="292608" cy="521207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572768"/>
            <a:ext cx="228600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517904"/>
            <a:ext cx="1527048" cy="521207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72768"/>
            <a:ext cx="1463040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0280" y="1517904"/>
            <a:ext cx="4956048" cy="521207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0" y="1572768"/>
            <a:ext cx="4892040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Key Products / Applications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517904"/>
            <a:ext cx="1298448" cy="521207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72768"/>
            <a:ext cx="1234440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Best EBITDA
Margin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1517904"/>
            <a:ext cx="3218688" cy="521207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1572768"/>
            <a:ext cx="3154680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Sample Targets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39112"/>
            <a:ext cx="29260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075688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039112"/>
            <a:ext cx="1527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075688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Wood &amp; PU Coatings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2039112"/>
            <a:ext cx="4956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2075688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Italian finishes, melamine, NC lacquers, polyester — premium B2B &amp; OEM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2039112"/>
            <a:ext cx="12984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69480" y="2075688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20.1%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2039112"/>
            <a:ext cx="321868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75688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Sirca, Sheenlac, Teknovace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560319"/>
            <a:ext cx="29260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596895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2560319"/>
            <a:ext cx="1527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2596895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Heavy-Duty Protective &amp; Marine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40280" y="2560319"/>
            <a:ext cx="4956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86000" y="2596895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Epoxy barrier, zinc silicate, fluoropolymers — infra &amp; energy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2560319"/>
            <a:ext cx="12984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2596895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14.6%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49640" y="2560319"/>
            <a:ext cx="321868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596895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Grand Polycoats, Advance, Kirloskar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081526"/>
            <a:ext cx="29260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118102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3081526"/>
            <a:ext cx="1527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3118102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Powder Coatings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40280" y="3081526"/>
            <a:ext cx="4956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286000" y="3118102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Polyester, epoxy-hybrid — appliances, aluminium, automotive OEM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081526"/>
            <a:ext cx="12984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3118102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11.6%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549640" y="3081526"/>
            <a:ext cx="321868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0" y="3118102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Marpol, Supercoat, Prism Powder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3602733"/>
            <a:ext cx="29260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3639309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3602733"/>
            <a:ext cx="1527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3639309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Decorative &amp; Architectural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40280" y="3602733"/>
            <a:ext cx="4956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286000" y="3639309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Acrylic emulsions, weather-shield, wall putty, cement primers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3602733"/>
            <a:ext cx="12984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69480" y="3639309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10.9%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49640" y="3602733"/>
            <a:ext cx="321868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95360" y="3639309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Sheenlac, Surfa Coats, Gem Paints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23940"/>
            <a:ext cx="29260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4160516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5800" y="4123940"/>
            <a:ext cx="1527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60516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Specialty Textured Architectural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40280" y="4123940"/>
            <a:ext cx="4956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86000" y="4160516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Stone finishes, acoustic, Japanese plaster — premium niche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23760" y="4123940"/>
            <a:ext cx="12984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69480" y="4160516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21.9%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549640" y="4123940"/>
            <a:ext cx="321868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595360" y="4160516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Siddhika (SKK Japan)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645147"/>
            <a:ext cx="29260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" y="4681723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" y="4645147"/>
            <a:ext cx="1527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" y="4681723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Coil &amp; Metal Coatings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240280" y="4645147"/>
            <a:ext cx="4956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0" y="4681723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Pre-painted galvanized, stoving enamels — steel &amp; aluminium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223760" y="4645147"/>
            <a:ext cx="12984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269480" y="4681723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2.0%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49640" y="4645147"/>
            <a:ext cx="321868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95360" y="4681723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Metal Coatings India, Zenith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5166354"/>
            <a:ext cx="29260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11480" y="5202930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5800" y="5166354"/>
            <a:ext cx="1527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1520" y="5202930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Specialty Resins &amp; Industrial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40280" y="5166354"/>
            <a:ext cx="49560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286000" y="5202930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Alkyd, phenolic, foundry refractory, tractor finishes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166354"/>
            <a:ext cx="129844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269480" y="5202930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27.0%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49640" y="5166354"/>
            <a:ext cx="3218688" cy="502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95360" y="5202930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Jyoti Resins/Euro 7000, IVP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5760" y="5687561"/>
            <a:ext cx="29260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11480" y="5724137"/>
            <a:ext cx="22860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85800" y="5687561"/>
            <a:ext cx="1527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1520" y="5724137"/>
            <a:ext cx="1463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Construction Chemicals &amp; Waterproofing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40280" y="5687561"/>
            <a:ext cx="49560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286000" y="5724137"/>
            <a:ext cx="48920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Elastomeric membranes, admixtures, polysulphide sealants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223760" y="5687561"/>
            <a:ext cx="129844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269480" y="5724137"/>
            <a:ext cx="123444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12.7%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49640" y="5687561"/>
            <a:ext cx="3218688" cy="502919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595360" y="5724137"/>
            <a:ext cx="3154680" cy="448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1A1A2E"/>
                </a:solidFill>
                <a:latin typeface="Calibri"/>
              </a:rPr>
              <a:t>Choksey, CICO, Perma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52360" y="1261872"/>
            <a:ext cx="43434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43800" y="1298448"/>
            <a:ext cx="4160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MARKET STRUCTURE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1554480"/>
            <a:ext cx="4343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Total market size: ₹65,000–70,000 Cr (FY25) growing at 9–11% CAGR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Top 10 players control ~70% of organized market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Remaining 30% (₹19,500–21,000 Cr) is fragmented among 400+ SMEs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Sub-₹1,000 Cr segment: 100+ organized regional manufacturers identified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Unlisted companies account for 90% of shortlisted targets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High information asymmetry = first-mover M&amp;A advantage for strategic buyer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Key raw material inputs: TiO2, solvents, resins, epoxy — all globally sourced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Screening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Automated Multi-Phase Intelligence Pipeline — Discovery to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2697480" cy="50292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61872"/>
            <a:ext cx="2514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
DISCOVERY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3736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828800"/>
            <a:ext cx="24780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Multi-source candidate harvesting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Screener.in API (15 sub-segment queries)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BSE / NSE listed entity registries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MCA ROC corporate master search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SME paints industrial cluster registries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IPA / ISSPA trade association rosters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83480"/>
            <a:ext cx="2697480" cy="47548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142 Discovered
Candidates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7889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1234440"/>
            <a:ext cx="2697480" cy="502920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261872"/>
            <a:ext cx="2514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
ENRICHMENT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18688" y="173736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28416" y="1828800"/>
            <a:ext cx="24780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Corporate identity normalization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MCA CIN format validation (21 chars)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Legal entity name harmonization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Registered address geocoding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Listing status classification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ROC registry linkage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4983480"/>
            <a:ext cx="2697480" cy="475488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0128" y="50109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123 Canonical
Entities (100% CIN)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51576" y="27889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71616" y="1234440"/>
            <a:ext cx="2697480" cy="5029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63056" y="1261872"/>
            <a:ext cx="2514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3
FINANCIALS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71616" y="173736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81344" y="1828800"/>
            <a:ext cx="24780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Screener.in audited P&amp;L parser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CRISIL / CARE / Infomerics rating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MCA Annual Return financials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EBITDA, PAT, D/E ratio computation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YoY revenue growth calculation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276 fiscal year statements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1616" y="4983480"/>
            <a:ext cx="2697480" cy="4754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50109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1,932 Financial
Observations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504" y="278892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24544" y="1234440"/>
            <a:ext cx="2697480" cy="502920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15984" y="1261872"/>
            <a:ext cx="2514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4
SCREENING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24544" y="173736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1828800"/>
            <a:ext cx="247802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Revenue &lt; ₹1,000 Cr → SHORTLIST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Revenue &gt; ₹1,000 Cr → PASS / Scale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Pure traders → PASS / Scope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Manufacturing plant verification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Ownership &amp; promoter tracing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• Evidence URL traceability check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4983480"/>
            <a:ext cx="2697480" cy="475488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15984" y="5010912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111 Shortlisted
12 Excluded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623560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660136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EVIDENCE STANDARDS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1000" b="0">
                <a:solidFill>
                  <a:srgbClr val="1A1A2E"/>
                </a:solidFill>
                <a:latin typeface="Calibri"/>
              </a:rPr>
              <a:t>▸ 100% Source URL Traceability — every data point linked to a verified public source (MCA, BSE, Screener.in, CRISIL, CARE, Infomerics, company website)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1A1A2E"/>
                </a:solidFill>
                <a:latin typeface="Calibri"/>
              </a:rPr>
              <a:t>▸ 648 Field-Level Evidence Citations logged in evidence_register.csv — zero hallucinated data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1A1A2E"/>
                </a:solidFill>
                <a:latin typeface="Calibri"/>
              </a:rPr>
              <a:t>▸ CIN Validation: All 123 entities carry valid 21-character MCA Corporate Identification Numbers verified against ROC master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Financial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Revenue Distribution, Margins, Profitability &amp; Risk Profile Across 111 Shortlisted Targets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80160"/>
            <a:ext cx="201168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5331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₹36.2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385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Median Revenue
(Shortlisted)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7168" y="1280160"/>
            <a:ext cx="2011680" cy="1005840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78608" y="135331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₹15–595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8608" y="19385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Revenue Range
(Min → Max)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08576" y="1280160"/>
            <a:ext cx="2011680" cy="1005840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135331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27.0%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19385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Best EBITDA
Margin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9984" y="1280160"/>
            <a:ext cx="2011680" cy="1005840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1424" y="135331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E8A01E"/>
                </a:solidFill>
                <a:latin typeface="Calibri"/>
              </a:rPr>
              <a:t>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19385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Unlisted /
SME Targets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51392" y="1280160"/>
            <a:ext cx="2057400" cy="1005840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42832" y="1353312"/>
            <a:ext cx="1874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D2B55"/>
                </a:solidFill>
                <a:latin typeface="Calibri"/>
              </a:rPr>
              <a:t>276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1938528"/>
            <a:ext cx="1874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Fiscal Statements
Extracted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487168"/>
            <a:ext cx="54864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2374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REVENUE DISTRIBUTION — 111 SHORTLISTED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278892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₹500–1,000 Cr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2843784"/>
            <a:ext cx="93911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95863" y="284378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3 companies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355848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₹250–500 Cr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3410712"/>
            <a:ext cx="93911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95863" y="341071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3 companies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922776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₹100–250 Cr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28800" y="3977640"/>
            <a:ext cx="187822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89774" y="39776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6 companies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489704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₹50–100 Cr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4544568"/>
            <a:ext cx="532164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34116" y="45445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17 companies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056632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₹15–50 Cr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5111496"/>
            <a:ext cx="2535606" cy="34747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7558" y="51114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81 companies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2487168"/>
            <a:ext cx="580644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2523744"/>
            <a:ext cx="5623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TOP EBITDA MARGIN PERFORMERS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743200"/>
            <a:ext cx="2350008" cy="3291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25896" y="2770632"/>
            <a:ext cx="23042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2743200"/>
            <a:ext cx="1115568" cy="3291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03336" y="2770632"/>
            <a:ext cx="1069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2743200"/>
            <a:ext cx="749808" cy="3291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46336" y="2770632"/>
            <a:ext cx="7040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287000" y="2743200"/>
            <a:ext cx="795528" cy="3291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23576" y="2770632"/>
            <a:ext cx="7498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EBITDA%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109960" y="2743200"/>
            <a:ext cx="658368" cy="329184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46536" y="2770632"/>
            <a:ext cx="6126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D/E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89320" y="3072384"/>
            <a:ext cx="23500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25896" y="3108960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Jyoti Resins &amp; Adhesives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072384"/>
            <a:ext cx="11155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03336" y="3108960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Specialty Resins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760" y="3072384"/>
            <a:ext cx="7498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46336" y="310896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₹315 Cr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87000" y="3072384"/>
            <a:ext cx="79552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23576" y="3108960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27.0%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109960" y="3072384"/>
            <a:ext cx="6583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46536" y="3108960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89320" y="3474720"/>
            <a:ext cx="23500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25896" y="3511296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Siddhika Coatings (SKK Japan)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6760" y="3474720"/>
            <a:ext cx="11155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403336" y="3511296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Specialty Architectural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9760" y="3474720"/>
            <a:ext cx="7498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46336" y="351129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₹55 Cr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287000" y="3474720"/>
            <a:ext cx="79552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323576" y="351129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21.9%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109960" y="3474720"/>
            <a:ext cx="6583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146536" y="3511296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0.21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89320" y="3877056"/>
            <a:ext cx="23500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025896" y="3913632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Sirca Paints India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366760" y="3877056"/>
            <a:ext cx="11155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03336" y="3913632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Wood &amp; PU Coatings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509760" y="3877056"/>
            <a:ext cx="7498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546336" y="3913632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₹492 Cr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287000" y="3877056"/>
            <a:ext cx="79552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323576" y="3913632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20.1%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109960" y="3877056"/>
            <a:ext cx="6583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146536" y="3913632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989320" y="4279392"/>
            <a:ext cx="23500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025896" y="4315968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Grand Polycoats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366760" y="4279392"/>
            <a:ext cx="11155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03336" y="4315968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Heavy-Duty Protective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509760" y="4279392"/>
            <a:ext cx="7498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46336" y="4315968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₹385 Cr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287000" y="4279392"/>
            <a:ext cx="79552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323576" y="4315968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14.6%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109960" y="4279392"/>
            <a:ext cx="6583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146536" y="4315968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0.18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989320" y="4681728"/>
            <a:ext cx="23500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025896" y="4718304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Kirloskar Corrocoat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366760" y="4681728"/>
            <a:ext cx="11155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403336" y="4718304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Heavy-Duty Corrosion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509760" y="4681728"/>
            <a:ext cx="7498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546336" y="4718304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₹82 Cr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87000" y="4681728"/>
            <a:ext cx="79552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23576" y="4718304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14.0%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109960" y="4681728"/>
            <a:ext cx="6583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146536" y="4718304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0.23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989320" y="5084064"/>
            <a:ext cx="23500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025896" y="5120640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Teknovace Wood Coatings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366760" y="5084064"/>
            <a:ext cx="11155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403336" y="5120640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Wood Coatings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509760" y="5084064"/>
            <a:ext cx="7498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546336" y="512064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₹32 Cr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287000" y="5084064"/>
            <a:ext cx="79552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323576" y="5120640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13.7%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109960" y="5084064"/>
            <a:ext cx="6583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1146536" y="5120640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0.19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989320" y="5486400"/>
            <a:ext cx="23500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025896" y="5522976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Crest Speciality Resins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366760" y="5486400"/>
            <a:ext cx="11155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03336" y="5522976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Specialty Resins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509760" y="5486400"/>
            <a:ext cx="74980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546336" y="552297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₹79 Cr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287000" y="5486400"/>
            <a:ext cx="79552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323576" y="552297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12.9%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109960" y="5486400"/>
            <a:ext cx="658368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1146536" y="5522976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0.22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989320" y="5888736"/>
            <a:ext cx="23500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25896" y="5925312"/>
            <a:ext cx="2304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Perma Construction Aids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366760" y="5888736"/>
            <a:ext cx="11155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403336" y="5925312"/>
            <a:ext cx="10698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Waterproofing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9509760" y="5888736"/>
            <a:ext cx="74980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546336" y="5925312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₹64 Cr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0287000" y="5888736"/>
            <a:ext cx="79552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323576" y="5925312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8A5A"/>
                </a:solidFill>
                <a:latin typeface="Calibri"/>
              </a:rPr>
              <a:t>12.7%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1109960" y="5888736"/>
            <a:ext cx="658368" cy="384048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146536" y="5925312"/>
            <a:ext cx="6126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0.11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65760" y="5623560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7200" y="5660136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FINANCIAL RISK PROFILE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65760" y="58978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80% of shortlisted targets carry Low-to-Moderate financial risk (D/E &lt; 0.5, positive operating cash flow). 3 outliers (Shalimar Paints, Metal Coatings India) have elevated debt or negative margins — flagged as Moderate risk. All 111 companies have been verified as active manufacturers with identifiable physical plant locations.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Priority Acquisition Candidates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5 Evidence-Backed Shortlist Champions — Verified Financials, Manufacturing Assets &amp; Strategic Rationale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7150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57150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0759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1. Sirca Paints India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57276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AACC"/>
                </a:solidFill>
                <a:latin typeface="Calibri"/>
              </a:rPr>
              <a:t>BSE Listed  |  CIN: L24219DL2006PLC145092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922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7A8A"/>
                </a:solidFill>
                <a:latin typeface="Calibri"/>
              </a:rPr>
              <a:t>Wood &amp; PU Coatings  |  Italian Formulation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₹492 Cr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EBITDA%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20.1%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₹65 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D/E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0.07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2487168"/>
            <a:ext cx="5532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Plant: Sonipat, Haryana (HSIIDC) — 12,000 MTPA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688336"/>
            <a:ext cx="5532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D2B55"/>
                </a:solidFill>
                <a:latin typeface="Calibri"/>
              </a:rPr>
              <a:t>Rationale: Highest-quality listed target. Italian formulation IP, modern plant, strong contractor network, near-zero debt.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081528"/>
            <a:ext cx="57150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3081528"/>
            <a:ext cx="57150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1272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2. Grand Polycoats Co. Pvt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3392424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AACC"/>
                </a:solidFill>
                <a:latin typeface="Calibri"/>
              </a:rPr>
              <a:t>Unlisted  |  CIN: U24222GJ1989PTC012645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6118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7A8A"/>
                </a:solidFill>
                <a:latin typeface="Calibri"/>
              </a:rPr>
              <a:t>Heavy-Duty Protective &amp; Marine Coatings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Revenue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₹385 Cr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80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EBITDA%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14.6%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5468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₹32 Cr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2628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D/E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0.18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4306824"/>
            <a:ext cx="5532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Plant: Padra, Gujarat (GIDC) — Epoxy/PU manufacturing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4507992"/>
            <a:ext cx="5532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D2B55"/>
                </a:solidFill>
                <a:latin typeface="Calibri"/>
              </a:rPr>
              <a:t>Rationale: Premier protective coatings brand for oil &amp; gas, infra. High-barrier formulations, loyal institutional base, low-competition niche.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901184"/>
            <a:ext cx="57150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901184"/>
            <a:ext cx="57150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494690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3. Jyoti Resins &amp; Adhesives Ltd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5212080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AACC"/>
                </a:solidFill>
                <a:latin typeface="Calibri"/>
              </a:rPr>
              <a:t>BSE SME Listed  |  CIN: L24232GJ1981PLC004275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543153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7A8A"/>
                </a:solidFill>
                <a:latin typeface="Calibri"/>
              </a:rPr>
              <a:t>Synthetic Resins &amp; Industrial Coatings  |  Euro 7000 Brand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5705856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5715000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Revenue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852160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₹315 Cr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83080" y="5705856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28800" y="5715000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EBITDA%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5852160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27.0%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54680" y="5705856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0" y="5715000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0" y="5852160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₹70 Cr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26280" y="5705856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0" y="5715000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D/E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5852160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0.00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" y="6126480"/>
            <a:ext cx="5532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Plant: Gandhinagar, Gujarat — Alkyd &amp; Synthetic Resin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327648"/>
            <a:ext cx="5532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D2B55"/>
                </a:solidFill>
                <a:latin typeface="Calibri"/>
              </a:rPr>
              <a:t>Rationale: Highest EBITDA margin in universe at 27%. Zero debt. Euro 7000 brand with strong retail dealer network across Rajasthan &amp; Gujarat.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1261872"/>
            <a:ext cx="57150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55080" y="1261872"/>
            <a:ext cx="57150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46520" y="1307592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4. Marpol Private Limited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157276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AACC"/>
                </a:solidFill>
                <a:latin typeface="Calibri"/>
              </a:rPr>
              <a:t>Unlisted  |  CIN: U24222GA1983PTC000547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17922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7A8A"/>
                </a:solidFill>
                <a:latin typeface="Calibri"/>
              </a:rPr>
              <a:t>Powder Coatings — Automotive &amp; OEM Appliances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4652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Revenue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₹104 Cr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1812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86384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EBITDA%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384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11.6%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8972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3544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PAT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3544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₹6.4 Cr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1320" y="2066544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607040" y="2075688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D/E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212848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0.26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46520" y="2487168"/>
            <a:ext cx="5532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Plant: Ponda, Goa — solvent-free powder coating facility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46520" y="2688336"/>
            <a:ext cx="5532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D2B55"/>
                </a:solidFill>
                <a:latin typeface="Calibri"/>
              </a:rPr>
              <a:t>Rationale: Pure-play powder coatings — growing segment (sustainability-driven shift from liquid paints). Clean technology, OEM customer lock-in.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55080" y="3081528"/>
            <a:ext cx="5715000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081528"/>
            <a:ext cx="5715000" cy="34747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312724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5. Siddhika Coatings Ltd (SKK Japan)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446520" y="3392424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8AACC"/>
                </a:solidFill>
                <a:latin typeface="Calibri"/>
              </a:rPr>
              <a:t>BSE SME Listed  |  CIN: L24222UP2004PLC028512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46520" y="36118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7A8A"/>
                </a:solidFill>
                <a:latin typeface="Calibri"/>
              </a:rPr>
              <a:t>Specialty Textured Architectural  |  Japanese Technology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4652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9224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Revenue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₹55 Cr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81812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86384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EBITDA%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21.9%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18972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23544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PAT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23544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₹6.1 Cr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61320" y="3886200"/>
            <a:ext cx="1298448" cy="384048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607040" y="3895344"/>
            <a:ext cx="12070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D/E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607040" y="4032504"/>
            <a:ext cx="12070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8A5A"/>
                </a:solidFill>
                <a:latin typeface="Calibri"/>
              </a:rPr>
              <a:t>0.21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46520" y="4306824"/>
            <a:ext cx="5532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Plant: Greater Noida, UP — Japanese ETICS formulation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46520" y="4507992"/>
            <a:ext cx="5532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D2B55"/>
                </a:solidFill>
                <a:latin typeface="Calibri"/>
              </a:rPr>
              <a:t>Rationale: Premium niche player with Japanese technical partnership. Textured stone &amp; acoustic finishes command 3–4× ASP over commodity paints.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Geographic &amp; Segment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Manufacturing Footprint, Industrial Corridors &amp; Specialist Coating Niches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MANUFACTURING PLANT DISTRIBUTION — 126 VERIFIED PLANTS ACROSS 14 STATES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0934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Maharashtra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627632"/>
            <a:ext cx="3200400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1627632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81965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MIDC Ambad (Nashik), Tarapur, Taloja, Pune, Gummidipoondi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9738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93395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Gujarat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1952244"/>
            <a:ext cx="2584938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8018" y="1952244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14426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GIDC Padra, Ankleshwar, Vatva, Gandhinagar, Vapi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221992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258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Tamil Nadu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2276856"/>
            <a:ext cx="1846384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29464" y="227685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46888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SIPCOT Gummidipoondi, Ranipet, Sriperumbudur, Chennai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46604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5831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Karnataka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37360" y="2601468"/>
            <a:ext cx="1230923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4003" y="260146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27934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KIADB Dabaspet, Ramanagara, Peenya, Bidadi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71216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29077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Haryana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37360" y="2926080"/>
            <a:ext cx="1107830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90910" y="292608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11810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HSIIDC Sonipat-Rai, Bawal, Faridabad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195828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23240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Uttar Pradesh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37360" y="3250692"/>
            <a:ext cx="984738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7818" y="3250692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37360" y="344271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UPSIDC Sikandrabad, Greater Noida, Kanpur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520440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55701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Rajasthan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37360" y="3575304"/>
            <a:ext cx="984738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67818" y="3575304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37360" y="376732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RIICO Chopanki, Bhiwadi, Sitapura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1572768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160934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West Bengal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98080" y="1627632"/>
            <a:ext cx="738553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82353" y="1627632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0" y="181965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Howrah Industrial Belt, Dankuni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189738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93395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Telangana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0" y="1952244"/>
            <a:ext cx="738553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2353" y="1952244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80" y="214426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TSIIC Patancheru, Nacharam, Jeedimetla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26480" y="2221992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2258568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Punjab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98080" y="2276856"/>
            <a:ext cx="615461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59261" y="2276856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0" y="2468880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Ludhiana, Mohali, Batala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26480" y="2546604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58318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Kerala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80" y="2601468"/>
            <a:ext cx="615461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59261" y="260146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98080" y="2793492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Edappal, Palakkad, Aluva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2871216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2907792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Madhya Pradesh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98080" y="2926080"/>
            <a:ext cx="492369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36169" y="2926080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98080" y="3118104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Pithampur, Mandideep, Malanpur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26480" y="3195828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72200" y="3232404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Goa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98080" y="3250692"/>
            <a:ext cx="123092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66892" y="3250692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98080" y="3442716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Ponda (Marpol powder coatings)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80" y="3520440"/>
            <a:ext cx="5486400" cy="301752"/>
          </a:xfrm>
          <a:prstGeom prst="rect">
            <a:avLst/>
          </a:prstGeom>
          <a:solidFill>
            <a:srgbClr val="EA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72200" y="3557016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Odisha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498080" y="3575304"/>
            <a:ext cx="123092" cy="201168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666892" y="3575304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498080" y="3767328"/>
            <a:ext cx="4114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6B7C93"/>
                </a:solidFill>
                <a:latin typeface="Calibri"/>
              </a:rPr>
              <a:t>Bhubaneswar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5650992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5687568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NICHE SEGMENT OPPORTUNITIES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92531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Wood/PU — Italian IP formulations: Premium ASP (3–5× commodity), OEM stickiness, fast-growing interior décor market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Powder Coatings — Fastest growing sub-segment: Solvent-free (ESG-driven shift), automotive &amp; appliance OEM demand, 12–15% CAGR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Heavy-Duty Protective — Infrastructure supercycle: National infra pipeline (Sagarmala, PMGSY, Smart Cities) driving epoxy demand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A1A2E"/>
                </a:solidFill>
                <a:latin typeface="Calibri"/>
              </a:rPr>
              <a:t>▸ Specialty/Japanese Textured — Differentiated pricing: Acoustic &amp; stone finishes at ₹800–2,000/sq.ft vs. ₹80–150/sq.ft commodity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Risks &amp; Due Diligence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Data Gaps, Acquisition Risks &amp; Pre-Diligence Checklist for Priority Targets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54864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RISK CATEGORIES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261872"/>
            <a:ext cx="5715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298448"/>
            <a:ext cx="5532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DUE DILIGENCE CHECKLIST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72768"/>
            <a:ext cx="109728" cy="1143000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572768"/>
            <a:ext cx="5349240" cy="27432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609344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8A01E"/>
                </a:solidFill>
                <a:latin typeface="Calibri"/>
              </a:rPr>
              <a:t>DATA QUALITY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8366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90% of targets are unlisted — limited audited disclosure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Revenue for 1 target is unverified (pending MCA filing)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Some financials sourced from credit rating rationales (3-yr lag possible)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Plant capacity verified from secondary sources; primary inspection required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816352"/>
            <a:ext cx="109728" cy="1143000"/>
          </a:xfrm>
          <a:prstGeom prst="rect">
            <a:avLst/>
          </a:prstGeom>
          <a:solidFill>
            <a:srgbClr val="D470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816352"/>
            <a:ext cx="5349240" cy="27432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852928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700A"/>
                </a:solidFill>
                <a:latin typeface="Calibri"/>
              </a:rPr>
              <a:t>OWNERSHIP / SUCCESSION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127248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Jyoti Resins, Grand Polycoats are founder-managed, closely held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Single-promoter dependency creates succession &amp; valuation premium risk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Siddhika has SKK Japan JV — foreign partner approval may be required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Shalimar Paints has private equity (Infra.Market) control — complex structure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59936"/>
            <a:ext cx="109728" cy="1143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059936"/>
            <a:ext cx="5349240" cy="27432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096512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FINANCIAL QUALITY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3708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Shalimar Paints: Negative EBITDA (-3.7%) — operational turnaround needed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Metal Coatings India: Low EBITDA (2.0%) — commodity segment pressure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Raw material (TiO2, solvents, resins) inflation risk is sector-wide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Working capital cycles average 90–120 days in unlisted SME paint companies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109728" cy="1143000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03520"/>
            <a:ext cx="5349240" cy="274320"/>
          </a:xfrm>
          <a:prstGeom prst="rect">
            <a:avLst/>
          </a:prstGeom>
          <a:solidFill>
            <a:srgbClr val="F0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5340096"/>
            <a:ext cx="5212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6BC4"/>
                </a:solidFill>
                <a:latin typeface="Calibri"/>
              </a:rPr>
              <a:t>REGULATORY &amp; ENVIRONMENTAL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614416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State Pollution Control Board (SPCB) environmental consents critical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Solvent-based paint plants face VOC emission tightening (2025–2027)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Land title, factory license, and IS certification verification required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– Competition Act filing required if deal &gt; ₹350 Cr asset or ₹1,000 Cr turnover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572768"/>
            <a:ext cx="278892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1609344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1. Financial &amp; Tax Audit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1865376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Request 5-year audited financials from statutory auditor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Verify GST filings, TDS compliance, and Income Tax assessment orders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Assess contingent liabilities, litigation, and off-balance-sheet items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1572768"/>
            <a:ext cx="278892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1609344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2. Plant &amp; Asset Inspection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1865376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Physical plant visit — verify capacity, equipment age, and condition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Land ownership vs. lease status — check title deeds and encumbrances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Environmental NOC, factory license, IS certification review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3950208"/>
            <a:ext cx="278892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3986784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3. Customer &amp; Commercial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242816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Identify top 10 customers, revenue concentration, and contract tenure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Assess brand equity and channel distribution in target geography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Understand pricing power and raw material pass-through capability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61120" y="3950208"/>
            <a:ext cx="278892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0" y="3986784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4. Legal &amp; Regulatory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4242816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Litigation search — MCA, court records, environmental tribunal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IP and trademark ownership (especially for JV / licensed brands)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○ SPCB consent status, PCB authorization for hazardous waste handling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Strategic Prioritization, Diligence Sequencing &amp; Timeline for Acquisition Execution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PRIORITY TIER — IMMEDIATE OUTREACH (0–3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572768"/>
            <a:ext cx="11430000" cy="256032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09344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TIER 1 — HIGH CONVICTION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28800"/>
            <a:ext cx="1143000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36" y="1865376"/>
            <a:ext cx="3355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31336" y="1865376"/>
            <a:ext cx="841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1865376"/>
            <a:ext cx="841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EBITDA%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0136" y="1865376"/>
            <a:ext cx="978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1696" y="1865376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Investment Rationale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03120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" y="2157984"/>
            <a:ext cx="3355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Sirca Paints India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6" y="215798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₹492 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45736" y="215798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20.1%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0136" y="2157984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BSE Listed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2157984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D2B55"/>
                </a:solidFill>
                <a:latin typeface="Calibri"/>
              </a:rPr>
              <a:t>Strongest combination of margin, scale, IP, and modern manufacturing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468880"/>
            <a:ext cx="11430000" cy="36576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2336" y="2523744"/>
            <a:ext cx="3355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Jyoti Resins &amp; Adhesives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31336" y="252374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₹315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45736" y="252374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27.0%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0136" y="2523744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BSE SME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2523744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D2B55"/>
                </a:solidFill>
                <a:latin typeface="Calibri"/>
              </a:rPr>
              <a:t>Highest EBITDA in universe. Zero debt. Strong regional brand (Euro 7000)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834640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2889504"/>
            <a:ext cx="3355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Grand Polycoats Pvt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31336" y="288950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₹385 Cr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5736" y="2889504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14.6%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0136" y="2889504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Unlisted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11696" y="2889504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D2B55"/>
                </a:solidFill>
                <a:latin typeface="Calibri"/>
              </a:rPr>
              <a:t>Premium protective coatings player. Infrastructure supercycle exposure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91840"/>
            <a:ext cx="11430000" cy="256032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32841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TIER 2 — STRATEGIC OPTIONALITY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547872"/>
            <a:ext cx="11430000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" y="3584448"/>
            <a:ext cx="33558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31336" y="3584448"/>
            <a:ext cx="841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Revenue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45736" y="3584448"/>
            <a:ext cx="841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EBITDA%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0136" y="3584448"/>
            <a:ext cx="9784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11696" y="3584448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Investment Rationale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822192"/>
            <a:ext cx="11430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2336" y="3877056"/>
            <a:ext cx="3355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Siddhika Coatings (SKK Japan)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31336" y="3877056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₹55 Cr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45736" y="3877056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21.9%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0136" y="3877056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BSE SME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11696" y="3877056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D2B55"/>
                </a:solidFill>
                <a:latin typeface="Calibri"/>
              </a:rPr>
              <a:t>Highest niche margin. Japanese JV IP — unique positioning in textured finishes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187952"/>
            <a:ext cx="11430000" cy="365760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" y="4242816"/>
            <a:ext cx="3355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Marpol Private Ltd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31336" y="4242816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₹104 Cr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45736" y="4242816"/>
            <a:ext cx="841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B8A5A"/>
                </a:solidFill>
                <a:latin typeface="Calibri"/>
              </a:rPr>
              <a:t>11.6%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0136" y="4242816"/>
            <a:ext cx="9784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Unlisted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11696" y="4242816"/>
            <a:ext cx="50474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0D2B55"/>
                </a:solidFill>
                <a:latin typeface="Calibri"/>
              </a:rPr>
              <a:t>ESG-aligned powder coatings. Solvent-free technology with OEM customer base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4690872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4727448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EXECUTION ROADMAP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965192"/>
            <a:ext cx="2816352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8912" y="5001768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Month 1–2 — Data Enrichment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221224"/>
            <a:ext cx="28163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8912" y="5257800"/>
            <a:ext cx="2670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Commission primary KYC, promoter background checks, and plant feasibility visits for Tier 1 targets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27832" y="5276088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10128" y="4965192"/>
            <a:ext cx="2816352" cy="256032"/>
          </a:xfrm>
          <a:prstGeom prst="rect">
            <a:avLst/>
          </a:prstGeom>
          <a:solidFill>
            <a:srgbClr val="1F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383280" y="5001768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Month 2–4 — Preliminary Outreach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0128" y="5221224"/>
            <a:ext cx="28163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83280" y="5257800"/>
            <a:ext cx="2670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Initiate confidential introductory contact via M&amp;A advisors / investment bankers with Tier 1 management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5276088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54496" y="4965192"/>
            <a:ext cx="2816352" cy="256032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27648" y="5001768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Month 4–6 — Full Due Diligence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54496" y="5221224"/>
            <a:ext cx="28163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5257800"/>
            <a:ext cx="2670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Engage statutory auditors, legal counsel, and environmental consultants for Tier 1 targets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16568" y="5276088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6B7C93"/>
                </a:solidFill>
                <a:latin typeface="Calibri"/>
              </a:rPr>
              <a:t>▶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98864" y="4965192"/>
            <a:ext cx="2816352" cy="256032"/>
          </a:xfrm>
          <a:prstGeom prst="rect">
            <a:avLst/>
          </a:prstGeom>
          <a:solidFill>
            <a:srgbClr val="1B8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72016" y="5001768"/>
            <a:ext cx="2670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Month 6–9 — LOI &amp; Structuring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198864" y="5221224"/>
            <a:ext cx="281635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272016" y="5257800"/>
            <a:ext cx="267004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Execute Letter of Intent, negotiate deal structure (cash + earn-out vs. full acquisition vs. strategic stake)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E8A0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Technical Implementation &amp;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E8"/>
                </a:solidFill>
                <a:latin typeface="Calibri"/>
              </a:rPr>
              <a:t>GitHub Repository, Database Architecture, CSV Deliverables &amp; Reproduction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06424"/>
            <a:ext cx="12188952" cy="5751576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88952" cy="274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611112"/>
            <a:ext cx="11612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A0B8D0"/>
                </a:solidFill>
                <a:latin typeface="Calibri"/>
              </a:rPr>
              <a:t>Acclime Strategy | Indian Paints &amp; Coatings M&amp;A Screening | Confidential |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54864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98448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GITHUB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F6BC4"/>
                </a:solidFill>
                <a:latin typeface="Calibri"/>
              </a:rPr>
              <a:t>https://github.com/Shauryasinghh25/Acclime-Indian-paints-coatings-screening-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54864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DATA DELIVERABLES — 11 CSVs + Excel Workbook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12848"/>
            <a:ext cx="539496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5856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company_master.csv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25856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123 companies — 21-char CIN verified entity master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87752"/>
            <a:ext cx="5394960" cy="35661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63347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plant_locations.csv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6334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126 verified manufacturing plants across 14 states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962656"/>
            <a:ext cx="539496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0083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financial_analysis.csv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0083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276 fiscal statements, 1,932 field observations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337560"/>
            <a:ext cx="5394960" cy="35661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3832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acquisition_screening.csv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111 shortlisted targets + 12 PASS exclusions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712464"/>
            <a:ext cx="539496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75818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evidence_register.csv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375818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648 field-level citations with 100% source URLs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87368"/>
            <a:ext cx="5394960" cy="35661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ownership_analysis.csv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41330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264 promoter/shareholder/governance records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462272"/>
            <a:ext cx="539496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50799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excluded_companies.csv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507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Scale benchmarks &amp; pure trading PASS decisions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837176"/>
            <a:ext cx="5394960" cy="356616"/>
          </a:xfrm>
          <a:prstGeom prst="rect">
            <a:avLst/>
          </a:prstGeom>
          <a:solidFill>
            <a:srgbClr val="F0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8289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B55"/>
                </a:solidFill>
                <a:latin typeface="Calibri"/>
              </a:rPr>
              <a:t>indian_paints_mna_database.xlsx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488289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  <a:latin typeface="Calibri"/>
              </a:rPr>
              <a:t>7-tab formatted executive workbook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261872"/>
            <a:ext cx="580644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1298448"/>
            <a:ext cx="5623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PIPELINE MODULES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1572768"/>
            <a:ext cx="5806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discovery_scraper.py  — Multi-source candidate harvesting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company_scraper.py    — CIN validation &amp; entity normalization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financial_scraper.py  — P&amp;L / balance sheet extraction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plant_scraper.py      — Manufacturing facility footprint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ownership_scraper.py  — Promoter &amp; governance tracing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data_cleaning.py      — Name &amp; state normalization, ratios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acquisition_screener.py — ₹1,000 Cr threshold decisions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evidence_validator.py — URL citation traceability audit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pipeline.py           — 8-phase master orchestrator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1A1A2E"/>
                </a:solidFill>
                <a:latin typeface="Calibri"/>
              </a:rPr>
              <a:t>⚙ dashboard.py          — Streamlit interactive analytics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376672"/>
            <a:ext cx="11430000" cy="256032"/>
          </a:xfrm>
          <a:prstGeom prst="rect">
            <a:avLst/>
          </a:prstGeom>
          <a:solidFill>
            <a:srgbClr val="00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13248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REPRODUCTION COMMANDS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650992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</a:pPr>
            <a:r>
              <a:rPr sz="950" b="0">
                <a:solidFill>
                  <a:srgbClr val="1F6BC4"/>
                </a:solidFill>
                <a:latin typeface="Calibri"/>
              </a:rPr>
              <a:t>$ pytest -v                                 # 11 unit tests — data validation &amp; screening logic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6BC4"/>
                </a:solidFill>
                <a:latin typeface="Calibri"/>
              </a:rPr>
              <a:t>$ python -m scraper_engine.pipeline         # Full 8-phase intelligence pipeline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F6BC4"/>
                </a:solidFill>
                <a:latin typeface="Calibri"/>
              </a:rPr>
              <a:t>$ streamlit run dashboard.py               # Interactive analytics dashboard → http://localhost:8501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