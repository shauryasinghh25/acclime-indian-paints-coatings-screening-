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99B26"/>
                </a:solidFill>
                <a:latin typeface="Arial"/>
              </a:rPr>
              <a:t>ACCLIME STRATEGY, INTERNATIONAL BUSINESS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Indian Paints &amp; Coatings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CEDEEE"/>
                </a:solidFill>
                <a:latin typeface="Arial"/>
              </a:rPr>
              <a:t>M&amp;A Target Screening &amp; Corporate Intelligence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D99B26"/>
                </a:solidFill>
                <a:latin typeface="Arial"/>
              </a:rPr>
              <a:t>Preliminary Evaluation of Manufacturers with Revenue Below ₹1,000 Crore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1965960" cy="1280160"/>
          </a:xfrm>
          <a:prstGeom prst="rect">
            <a:avLst/>
          </a:prstGeom>
          <a:solidFill>
            <a:srgbClr val="13365E"/>
          </a:solidFill>
          <a:ln w="12700">
            <a:solidFill>
              <a:srgbClr val="D99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D99B26"/>
                </a:solidFill>
                <a:latin typeface="Arial"/>
              </a:rPr>
              <a:t>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6177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/>
              </a:rPr>
              <a:t>Candidates Discovered across registries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80943" y="3931920"/>
            <a:ext cx="1965960" cy="1280160"/>
          </a:xfrm>
          <a:prstGeom prst="rect">
            <a:avLst/>
          </a:prstGeom>
          <a:solidFill>
            <a:srgbClr val="13365E"/>
          </a:solidFill>
          <a:ln w="12700">
            <a:solidFill>
              <a:srgbClr val="D99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3" y="406908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D99B26"/>
                </a:solidFill>
                <a:latin typeface="Arial"/>
              </a:rPr>
              <a:t>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5" y="46177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/>
              </a:rPr>
              <a:t>Canonical Corporate Entities Analyzed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7486" y="3931920"/>
            <a:ext cx="1965960" cy="1280160"/>
          </a:xfrm>
          <a:prstGeom prst="rect">
            <a:avLst/>
          </a:prstGeom>
          <a:solidFill>
            <a:srgbClr val="13365E"/>
          </a:solidFill>
          <a:ln w="12700">
            <a:solidFill>
              <a:srgbClr val="D99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6" y="406908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D99B26"/>
                </a:solidFill>
                <a:latin typeface="Arial"/>
              </a:rPr>
              <a:t>111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8" y="46177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/>
              </a:rPr>
              <a:t>Preliminary Shortlisted Candidates (&lt;₹1,000 Cr)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4029" y="3931920"/>
            <a:ext cx="1965960" cy="1280160"/>
          </a:xfrm>
          <a:prstGeom prst="rect">
            <a:avLst/>
          </a:prstGeom>
          <a:solidFill>
            <a:srgbClr val="13365E"/>
          </a:solidFill>
          <a:ln w="12700">
            <a:solidFill>
              <a:srgbClr val="D99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29" y="406908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D99B26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1" y="46177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/>
              </a:rPr>
              <a:t>Documented PASS Exclusions (Scale/Traders)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572" y="3931920"/>
            <a:ext cx="1965960" cy="1280160"/>
          </a:xfrm>
          <a:prstGeom prst="rect">
            <a:avLst/>
          </a:prstGeom>
          <a:solidFill>
            <a:srgbClr val="13365E"/>
          </a:solidFill>
          <a:ln w="12700">
            <a:solidFill>
              <a:srgbClr val="D99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2" y="406908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D99B26"/>
                </a:solidFill>
                <a:latin typeface="Arial"/>
              </a:rPr>
              <a:t>648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4" y="46177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/>
              </a:rPr>
              <a:t>Evidence Citations with Public URL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8AAACA"/>
                </a:solidFill>
                <a:latin typeface="Arial"/>
              </a:rPr>
              <a:t>Author: Shaurya Singh | Client Context: Acclime Deal Origination | Technical Suite: Python Engine, SQLite,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Executive Summary: Scope, Screening Funnel &amp; Strategic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MCA ROC registry filings; Screener.in; CRISIL/CARE ratings; Indian Paint Association market overview 2024.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347472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32552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INVESTMENT MANDATE &amp;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83080"/>
            <a:ext cx="31089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Target Definition: Independent, operating paint &amp; coatings manufacturers in India with annual turnover &lt; ₹1,000 Cr.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Target Segments: 8 specialized product categories including Wood/PU coatings, Protective/Marine, Powder coatings, and Construction chemicals.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Geographic Focus: Multi-state coverage across primary chemical &amp; industrial belts (Maharashtra, Gujarat, Tamil Nadu, Haryana, etc.).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Evidence Protocol: Data points backed by official filings (MCA/ROC, BSE/NSE, audited credit ratings, company websites) with documented citations.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Pipeline Output: Database with 123 entities, 126 plant footprints, 276 financial statements, and multi-criteria screening.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4747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344168"/>
            <a:ext cx="32552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SCREENING FUNNEL &amp; UNIVERSE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1089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142 Raw Candidates: Discovered through Screener.in API search queries, stock exchange lists, and regional industrial associations.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123 Canonical Corporate Entities: MCA 21-character CIN format validated and matched against ROC corporate identity records.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111 Preliminary Shortlisted Candidates: Formulators with annual revenue &lt; ₹1,000 Cr and identifiable manufacturing activity.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12 PASS Exclusions: 10 scale benchmarks (&gt;₹1,000 Cr such as Asian Paints, Berger) + 2 pure raw material traders.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Data Reality: ~90% of shortlisted candidates are unlisted private firms; public disclosure varies and warrants bilateral due diligence.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280160"/>
            <a:ext cx="374903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280160"/>
            <a:ext cx="3749039" cy="34747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344168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KEY STRATEGIC TAKEAWAYS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78308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Substantial SME Ecosystem: India hosts an extensive tier of regional paint makers (&lt;₹50 Cr revenue) below large-cap M&amp;A radar.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High-Margin Niches: Specialized wood/PU finishes (15–20% EBITDA) and protective resins outperform commodity decorative paint margins.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Structure Dictates Deal Flow: Listed targets (e.g., Sirca, Jyoti Resins) require public takeover code mechanics; unlisted firms present bilateral acquisition options.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Diligence Gaps Identified: Secondary capacity figures, customer churn, environmental NOCs, and asset titles require targeted investigation.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1B2430"/>
                </a:solidFill>
                <a:latin typeface="Arial"/>
              </a:rPr>
              <a:t>•  Working Conclusion: The pipeline has established an actionable screening universe; 5 targets are identified for initial strategic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Market Landscape: Indian Coatings Industry Structure &amp; Segment Taxonomy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Indian Paint Association (IPA) Industry Report 2024; CRISIL Research; Ministry of Statistics &amp; Programme Implementation (MOSPI).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1106424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MACRO INDUSTRY DYNAMICS &amp;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91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•  Market Size &amp; Growth: Total Indian paint and coatings industry estimated at ~₹65,000–70,000 Cr (FY24–25), expanding at a projected 9–11% CAGR driven by housing urbanization, infrastructure projects, and automotive OEM demand (Source: IPA 2024 Report, CRISIL).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•  Organized Duopoly / Oligopoly: The top 10 players (Asian Paints, Berger, Kansai Nerolac, Akzo Nobel, Indigo, JSW Paints, Nippon, etc.) control ~70% of the organized market, primarily commanding decorative retail distribution.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•  The Fragmented ~30%: Over ₹19,000–21,000 Cr turnover is generated by 400+ unlisted, regional, and SME formulators serving specialized B2B, industrial OEM, and localized retail geographies with specialized formulation capabilities.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329184" cy="402336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724912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651760"/>
            <a:ext cx="1975104" cy="402336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724912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Product Segment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651760"/>
            <a:ext cx="3803904" cy="402336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0944" y="2724912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Core Applications &amp; Formulations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651760"/>
            <a:ext cx="1609344" cy="402336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2724912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Typical Industry EBITDA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651760"/>
            <a:ext cx="3163824" cy="402336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2724912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Universe Representation &amp; Sample Candidates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90672"/>
            <a:ext cx="32918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36392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090672"/>
            <a:ext cx="19751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136392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Wood &amp; PU Coatings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090672"/>
            <a:ext cx="3803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80944" y="3136392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Italian PU finishes, polyesters, melamine, NC lacquers for furniture &amp; luxury interiors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090672"/>
            <a:ext cx="160934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1424" y="3136392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E824C"/>
                </a:solidFill>
                <a:latin typeface="Arial"/>
              </a:rPr>
              <a:t>14.0% – 20.5%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090672"/>
            <a:ext cx="316382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136392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Sirca Paints, Sheenlac, Teknovace, Duralac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493008"/>
            <a:ext cx="32918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3538728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493008"/>
            <a:ext cx="197510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3538728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Protective &amp; Marine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493008"/>
            <a:ext cx="380390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80944" y="3538728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High-build epoxies, zinc silicate, fluoropolymers for offshore, refineries &amp; bridges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3493008"/>
            <a:ext cx="160934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1424" y="3538728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E824C"/>
                </a:solidFill>
                <a:latin typeface="Arial"/>
              </a:rPr>
              <a:t>11.0% – 15.0%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493008"/>
            <a:ext cx="316382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7344" y="3538728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Grand Polycoats, Advance Paints, Kirloskar Corrocoat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895344"/>
            <a:ext cx="32918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3941064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895344"/>
            <a:ext cx="19751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" y="3941064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Powder Coatings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3895344"/>
            <a:ext cx="3803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80944" y="3941064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Thermosetting polyester &amp; hybrid powders for appliances, auto OEM, architecture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3895344"/>
            <a:ext cx="160934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21424" y="3941064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E824C"/>
                </a:solidFill>
                <a:latin typeface="Arial"/>
              </a:rPr>
              <a:t>10.0% – 12.5%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3895344"/>
            <a:ext cx="316382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67344" y="3941064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Marpol, Supercoat Polymers, Prism Powder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297680"/>
            <a:ext cx="32918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" y="4343400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4297680"/>
            <a:ext cx="197510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" y="4343400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Decorative &amp; Wall Finishes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4297680"/>
            <a:ext cx="380390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80944" y="4343400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Water-based acrylic emulsions, exterior weather-guards, distempers, wall putty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4297680"/>
            <a:ext cx="160934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21424" y="4343400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E824C"/>
                </a:solidFill>
                <a:latin typeface="Arial"/>
              </a:rPr>
              <a:t>8.0% – 12.0%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4297680"/>
            <a:ext cx="316382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67344" y="4343400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Surfa Coats, Gem Paints, Kamdhenu, Retina Paints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700016"/>
            <a:ext cx="32918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3504" y="4745736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4700016"/>
            <a:ext cx="19751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" y="4745736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Specialty Architectural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26080" y="4700016"/>
            <a:ext cx="3803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80944" y="4745736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Stone textured finishes, acoustic wall plasters, exposed concrete coatings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0" y="4700016"/>
            <a:ext cx="160934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21424" y="4745736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E824C"/>
                </a:solidFill>
                <a:latin typeface="Arial"/>
              </a:rPr>
              <a:t>16.0% – 22.0%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12480" y="4700016"/>
            <a:ext cx="316382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67344" y="4745736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Siddhika Coatings (SKK Japan partner)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5102352"/>
            <a:ext cx="32918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3504" y="5148072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" y="5102352"/>
            <a:ext cx="197510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9264" y="5148072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Coil &amp; Metal Coatings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26080" y="5102352"/>
            <a:ext cx="380390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80944" y="5148072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Pre-painted continuous galvanized/aluminium coil coatings, stoving enamels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5102352"/>
            <a:ext cx="160934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21424" y="5148072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E824C"/>
                </a:solidFill>
                <a:latin typeface="Arial"/>
              </a:rPr>
              <a:t>2.0% – 6.0%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0" y="5102352"/>
            <a:ext cx="316382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67344" y="5148072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Metal Coatings (India) Ltd, Zenith Surface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5504688"/>
            <a:ext cx="32918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" y="5550408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5504688"/>
            <a:ext cx="19751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9264" y="5550408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Specialty Resins &amp; Industrial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26080" y="5504688"/>
            <a:ext cx="3803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80944" y="5550408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Synthetic alkyds, foundry refractory coatings, binders, industrial enamels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66560" y="5504688"/>
            <a:ext cx="160934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21424" y="5550408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E824C"/>
                </a:solidFill>
                <a:latin typeface="Arial"/>
              </a:rPr>
              <a:t>12.0% – 27.0%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12480" y="5504688"/>
            <a:ext cx="316382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67344" y="5550408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Jyoti Resins (Euro 7000), IVP Ltd, Crest Resins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0" y="5907024"/>
            <a:ext cx="32918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" y="5952744"/>
            <a:ext cx="2560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4400" y="5907024"/>
            <a:ext cx="197510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9264" y="5952744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Construction &amp; Waterproofing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26080" y="5907024"/>
            <a:ext cx="380390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80944" y="5952744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Elastomeric liquid membranes, joint sealants, crystalline admixtures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66560" y="5907024"/>
            <a:ext cx="160934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21424" y="5952744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E824C"/>
                </a:solidFill>
                <a:latin typeface="Arial"/>
              </a:rPr>
              <a:t>10.0% – 13.5%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12480" y="5907024"/>
            <a:ext cx="3163824" cy="374904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67344" y="5952744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Choksey Chemicals, Perma Construction, CICO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Screening Methodology: Multi-Phase Pipeline Architecture &amp; Verification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Scraper engine architecture v2.0; MCA public master portal; Screener.in API; CRISIL/CARE public disclosures.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269748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STAGE 1: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4231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Automated candidate harvesting across 15 sub-segment search queries via Screener.in API.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Cross-referenced with BSE/NSE listed chemical rosters and regional industrial cluster directories.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Result: 142 initial candidate entities logged.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280160"/>
            <a:ext cx="26974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34416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STAGE 2: CANONICAL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691640"/>
            <a:ext cx="24231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Entity name standardization (harmonizing Private Limited, Ltd, PLC, LLP).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MCA 21-character CIN syntax validation and ROC master-record cross-referencing.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Result: 123 deduplicated canonical corporate entities established.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8016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80160"/>
            <a:ext cx="2697480" cy="34747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34416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STAGE 3: FINANCIAL &amp; PLANT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91640"/>
            <a:ext cx="24231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Extraction of 3-yr P&amp;L, balance sheets, and debt via audited reports and rating rationales.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Geographic mapping of 126 manufacturing plant sites across 14 states with city &amp; industrial area.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Result: 276 financial statements, 1,932 financial observations.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28016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1280160"/>
            <a:ext cx="2697480" cy="347472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134416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STAGE 4: SCREENING DECISION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691640"/>
            <a:ext cx="24231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Mandate evaluation: Revenue &lt; ₹1,000 Cr + verified active manufacturing footprint.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Categorization into Preliminary Shortlist (111) vs. Documented PASS Exclusions (12).</a:t>
            </a:r>
          </a:p>
          <a:p>
            <a:pPr algn="l">
              <a:spcAft>
                <a:spcPts val="400"/>
              </a:spcAft>
            </a:pPr>
            <a:r>
              <a:rPr sz="900">
                <a:solidFill>
                  <a:srgbClr val="1B2430"/>
                </a:solidFill>
                <a:latin typeface="Arial"/>
              </a:rPr>
              <a:t>▸  Result: 111 targets prioritized for diligence; 12 PASS benchmark/trader exclusions.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1106424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7316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DATA GOVERNANCE &amp; VERIFICATION TAXONOMY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Corporate Identification Number (CIN) Validation: All 123 entities have been verified for structural 21-character MCA CIN syntax and matched against Ministry of Corporate Affairs ROC records.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Manufacturing Verification Tiers: Distinguishes between (i) Verified Corporate Entity (ROC registered), (ii) Identified Physical Facility Address (industrial park / city documented in filings), and (iii) Operating Capacity / Environmental Consents (subject to bilateral on-site physical diligence).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Evidence Traceability Register: 648 field-level records logged in evidence_register.csv, each linking corporate metrics to publicly verifiable URLs (MCA V2/V3 portal, BSE/NSE annual filings, credit rating rationales, company sites).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Prudent Verification Standard: Replaces absolute zero-hallucination claims with an evidence-linked protocol acknowledging where unlisted filings require primary source confirmation.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Financial Analysis: Revenue Stratification, Profitability Margins &amp; Risk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Audited annual reports (FY23–FY26); CRISIL, CARE, Infomerics rating rationales; MCA filings.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512064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49011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REVENUE STRATIFICATION — 111 SHORTLISTED TARGETS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1554480" cy="43891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₹500 Cr – ₹1,000 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691640"/>
            <a:ext cx="594360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178308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1691640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74650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(2.7%) Shalimar Paints (₹569 Cr), Sheenlac (₹560 Cr), IVP Ltd (₹595 Cr)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185416"/>
            <a:ext cx="1554480" cy="43891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2768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₹250 Cr – ₹500 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185416"/>
            <a:ext cx="594360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2276856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185416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24028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(2.7%) Sirca Paints (₹492 Cr), Grand Polycoats (₹385 Cr), Jyoti Resins (₹315 Cr)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679192"/>
            <a:ext cx="1554480" cy="43891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77063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₹100 Cr – ₹250 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679192"/>
            <a:ext cx="594360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2770632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2679192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2734056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(5.4%) Gem Paints (₹218 Cr), Surfa Coats (₹215 Cr), Marpol (₹104 Cr), Nerofix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172968"/>
            <a:ext cx="1554480" cy="43891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2644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₹50 Cr – ₹100 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3172968"/>
            <a:ext cx="594360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326440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3172968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3227832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(15.3%) Kirloskar Corrocoat (₹82 Cr), Crest Resins (₹79 Cr), Advance Paints (₹73 Cr)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666744"/>
            <a:ext cx="1554480" cy="43891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7581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₹15 Cr – ₹50 Cr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666744"/>
            <a:ext cx="594360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3758184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3666744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372160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(73.0%) Core SME base of unlisted regional formulators across 14 industrial states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160520"/>
            <a:ext cx="1554480" cy="43891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251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Pending / Undisclosed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4160520"/>
            <a:ext cx="594360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425196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1800" y="4160520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421538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(0.9%) Kamdhenu Ventures (operating demerger disclosures in transition)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70916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D4E79"/>
                </a:solidFill>
                <a:latin typeface="Arial"/>
              </a:rPr>
              <a:t>Total Reconciled Shortlist: 81 + 17 + 6 + 3 + 3 + 1 = 111 Candidates (100% Accounted For)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1280160"/>
            <a:ext cx="5669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1280160"/>
            <a:ext cx="56692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53328" y="1344168"/>
            <a:ext cx="54498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STANDOUT EBITDA MARGIN PERFORMERS (FY24–FY26)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1691640"/>
            <a:ext cx="2295144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71616" y="1755648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Company Name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1691640"/>
            <a:ext cx="1289304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49056" y="1755648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Segment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4080" y="1691640"/>
            <a:ext cx="740664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20656" y="1755648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Revenue (Cr)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07040" y="1691640"/>
            <a:ext cx="557784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43616" y="1755648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EBITDA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247120" y="1691640"/>
            <a:ext cx="283464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283696" y="1755648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D/E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2039112"/>
            <a:ext cx="229514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71616" y="2112264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Jyoti Resins &amp; Adhesives Ltd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2039112"/>
            <a:ext cx="128930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49056" y="2112264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Specialty Resins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84080" y="2039112"/>
            <a:ext cx="74066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20656" y="2112264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₹315.0 (FY26)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07040" y="2039112"/>
            <a:ext cx="55778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643616" y="2112264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1E824C"/>
                </a:solidFill>
                <a:latin typeface="Arial"/>
              </a:rPr>
              <a:t>27.0%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247120" y="2039112"/>
            <a:ext cx="28346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283696" y="2112264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0.00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2386584"/>
            <a:ext cx="229514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71616" y="2459736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Siddhika Coatings Limited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12480" y="2386584"/>
            <a:ext cx="128930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49056" y="2459736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Specialty Arch.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84080" y="2386584"/>
            <a:ext cx="74066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20656" y="2459736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₹54.9 (FY26)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040" y="2386584"/>
            <a:ext cx="55778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43616" y="2459736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1E824C"/>
                </a:solidFill>
                <a:latin typeface="Arial"/>
              </a:rPr>
              <a:t>21.9%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247120" y="2386584"/>
            <a:ext cx="28346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283696" y="2459736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0.00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35040" y="2734056"/>
            <a:ext cx="229514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71616" y="2807208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Sirca Paints India Limited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12480" y="2734056"/>
            <a:ext cx="128930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49056" y="2807208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Wood Coatings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784080" y="2734056"/>
            <a:ext cx="74066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20656" y="2807208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₹492.0 (FY26)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607040" y="2734056"/>
            <a:ext cx="55778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643616" y="2807208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1E824C"/>
                </a:solidFill>
                <a:latin typeface="Arial"/>
              </a:rPr>
              <a:t>20.1%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247120" y="2734056"/>
            <a:ext cx="28346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83696" y="2807208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0.07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35040" y="3081528"/>
            <a:ext cx="229514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71616" y="3154680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Grand Polycoats Co. Pvt Ltd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412480" y="3081528"/>
            <a:ext cx="128930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49056" y="3154680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Protective/Marine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784080" y="3081528"/>
            <a:ext cx="74066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820656" y="3154680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₹385.2 (FY26)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607040" y="3081528"/>
            <a:ext cx="55778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643616" y="3154680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1E824C"/>
                </a:solidFill>
                <a:latin typeface="Arial"/>
              </a:rPr>
              <a:t>14.6%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247120" y="3081528"/>
            <a:ext cx="28346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283696" y="3154680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0.18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35040" y="3429000"/>
            <a:ext cx="229514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071616" y="3502152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Kirloskar Corrocoat Pvt Ltd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3429000"/>
            <a:ext cx="128930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49056" y="3502152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Heavy-Duty Corr.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3429000"/>
            <a:ext cx="74066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820656" y="3502152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₹81.5 (FY25)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607040" y="3429000"/>
            <a:ext cx="55778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643616" y="3502152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1E824C"/>
                </a:solidFill>
                <a:latin typeface="Arial"/>
              </a:rPr>
              <a:t>14.0%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247120" y="3429000"/>
            <a:ext cx="28346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283696" y="3502152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0.23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3776472"/>
            <a:ext cx="229514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071616" y="3849624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Teknovace Wood Coatings Pvt Ltd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12480" y="3776472"/>
            <a:ext cx="128930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49056" y="3849624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Wood Coatings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84080" y="3776472"/>
            <a:ext cx="74066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20656" y="3849624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₹31.5 (FY25)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07040" y="3776472"/>
            <a:ext cx="55778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643616" y="3849624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1E824C"/>
                </a:solidFill>
                <a:latin typeface="Arial"/>
              </a:rPr>
              <a:t>13.7%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247120" y="3776472"/>
            <a:ext cx="28346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283696" y="3849624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0.19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035040" y="4123944"/>
            <a:ext cx="229514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071616" y="4197096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Crest Speciality Resins Pvt Ltd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412480" y="4123944"/>
            <a:ext cx="128930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449056" y="4197096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Resins/Coatings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84080" y="4123944"/>
            <a:ext cx="74066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820656" y="4197096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₹78.5 (FY25)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07040" y="4123944"/>
            <a:ext cx="55778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43616" y="4197096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1E824C"/>
                </a:solidFill>
                <a:latin typeface="Arial"/>
              </a:rPr>
              <a:t>12.9%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1247120" y="4123944"/>
            <a:ext cx="28346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283696" y="4197096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0.22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35040" y="4471416"/>
            <a:ext cx="229514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071616" y="4544568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Perma Construction Aids Pvt Ltd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412480" y="4471416"/>
            <a:ext cx="128930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449056" y="4544568"/>
            <a:ext cx="125272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Waterproofing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784080" y="4471416"/>
            <a:ext cx="74066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820656" y="4544568"/>
            <a:ext cx="7040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₹64.0 (FY25)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607040" y="4471416"/>
            <a:ext cx="55778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643616" y="4544568"/>
            <a:ext cx="5212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1E824C"/>
                </a:solidFill>
                <a:latin typeface="Arial"/>
              </a:rPr>
              <a:t>12.7%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1247120" y="4471416"/>
            <a:ext cx="283464" cy="320040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283696" y="4544568"/>
            <a:ext cx="246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0.11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8640" y="5029200"/>
            <a:ext cx="11064240" cy="34747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58368" y="509320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FINANCIAL HEALTH &amp; LEVERAGE SUMMARY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1520" y="534924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Prudent Leverage Profile: Over 85% of shortlisted SME manufacturers maintain Debt-to-Equity below 0.35x, with leading niche players (Sirca, Jyoti Resins, Siddhika) operating practically debt-free.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Working Capital Realities: Receivables cycles across industrial/OEM contractors average 75–110 days, requiring thorough bilateral quality-of-earnings review during due diligence.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Turnaround Situations Flagged: Large-scale regional players like Shalimar Paints (₹569 Cr rev, -3.7% EBITDA) require operational turnaround rather than bolt-on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Preliminary Target Candidates (1/2): Listed &amp; Specialty Formulators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BSE/NSE public filings; audited annual reports FY24–FY26; ROC master database; investor presentations.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11064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1106424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SIRCA PAINTS INDIA 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5A6B7C"/>
                </a:solidFill>
                <a:latin typeface="Arial"/>
              </a:rPr>
              <a:t>BSE/NSE Listed | Wood &amp; Italian PU Finishes | Revenue: ₹492.0 Cr (FY25-26)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901952"/>
            <a:ext cx="246888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1965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Arial"/>
              </a:rPr>
              <a:t>EBITDA %: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9659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E824C"/>
                </a:solidFill>
                <a:latin typeface="Arial"/>
              </a:rPr>
              <a:t>20.1%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901952"/>
            <a:ext cx="246888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965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Arial"/>
              </a:rPr>
              <a:t>PAT: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659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E824C"/>
                </a:solidFill>
                <a:latin typeface="Arial"/>
              </a:rPr>
              <a:t>₹65.0 Cr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901952"/>
            <a:ext cx="246888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1965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Arial"/>
              </a:rPr>
              <a:t>D/E Ratio: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9659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E824C"/>
                </a:solidFill>
                <a:latin typeface="Arial"/>
              </a:rPr>
              <a:t>0.07x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901952"/>
            <a:ext cx="246888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1965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Arial"/>
              </a:rPr>
              <a:t>Location: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9659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E824C"/>
                </a:solidFill>
                <a:latin typeface="Arial"/>
              </a:rPr>
              <a:t>Sonipat,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304288"/>
            <a:ext cx="106984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Market Position: Market leader in premium Italian polyurethane wood coatings with strong brand equity and direct contractor loyalty.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Manufacturing Asset: Automated 12,000 MTPA production plant in HSIIDC Industrial Estate, Rai, Sonipat (Haryana).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Promoter &amp; Governance: Promoter holding ~65.2% (Agarwal family). Strategic tie-up with Sirca S.p.A. Italy for technical formulations.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Acquisition / Deal Structuring Consideration: As a publicly listed company, acquisition mandates compliance with SEBI Substantial Acquisition of Shares and Takeovers (SAST) Regulations, necessitating an open offer mechanism rather than private bilateral purchase.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Key Due Diligence Focus: Permanence of Italian technical licensing agreements, raw material import dependency, and margin durability under solvent cost spikes.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49040"/>
            <a:ext cx="11064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749040"/>
            <a:ext cx="110642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81304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JYOTI RESINS AND ADHESIVES LIMITED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33088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5A6B7C"/>
                </a:solidFill>
                <a:latin typeface="Arial"/>
              </a:rPr>
              <a:t>BSE SME Listed | Synthetic Resins &amp; Wood Adhesives | Revenue: ₹315.0 Cr (FY25-26)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70832"/>
            <a:ext cx="246888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43484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Arial"/>
              </a:rPr>
              <a:t>EBITDA %: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4348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E824C"/>
                </a:solidFill>
                <a:latin typeface="Arial"/>
              </a:rPr>
              <a:t>27.0%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4370832"/>
            <a:ext cx="246888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0712" y="443484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Arial"/>
              </a:rPr>
              <a:t>PAT: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4348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E824C"/>
                </a:solidFill>
                <a:latin typeface="Arial"/>
              </a:rPr>
              <a:t>₹70.0 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370832"/>
            <a:ext cx="246888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16752" y="443484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Arial"/>
              </a:rPr>
              <a:t>D/E Ratio: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4348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E824C"/>
                </a:solidFill>
                <a:latin typeface="Arial"/>
              </a:rPr>
              <a:t>0.00x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4370832"/>
            <a:ext cx="2468880" cy="347472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2792" y="443484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Arial"/>
              </a:rPr>
              <a:t>Location: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44348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E824C"/>
                </a:solidFill>
                <a:latin typeface="Arial"/>
              </a:rPr>
              <a:t>Gandhinagar, GJ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773168"/>
            <a:ext cx="106984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Market Position: Formulator of synthetic resin coatings and adhesives marketed under the established 'Euro 7000' brand across West/North India.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Manufacturing Asset: Manufacturing facility in Gandhinagar, Gujarat producing synthetic polyvinyl acetate and chemical formulations.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Financial Profile: Outstanding 27.0% EBITDA margin with zero debt (D/E 0.00) and high return on capital employed.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Acquisition / Deal Structuring Consideration: Listed corporate structure; promoter group (Patel family) holds ~50.8%. Transaction would require structured promoter share purchase plus mandatory public tender offer.</a:t>
            </a:r>
          </a:p>
          <a:p>
            <a:pPr algn="l">
              <a:spcAft>
                <a:spcPts val="2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Key Due Diligence Focus: Key-man dependency on founder leadership, dealer rebate sustainability, brand asset ownership, and environmental clearances.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Preliminary Target Candidates (2/2): Industrial, Protective &amp; Powder Specialists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CRISIL/CARE rating rationales; MCA ROC returns; company technical publications; GIDC/SIPCOT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11064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1106424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GRAND POLYCOATS COMPANY PRIVATE 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5A6B7C"/>
                </a:solidFill>
                <a:latin typeface="Arial"/>
              </a:rPr>
              <a:t>Unlisted Private Limited | Heavy-Duty Protective &amp; Marine | Revenue: ₹385.2 Cr (FY25-26)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470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EBITDA %: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84708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14.6%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8470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PAT: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84708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₹32.1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470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D/E Ratio: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84708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0.18x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8470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Location: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84708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Padra, Vadodara, GJ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05740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Market Position: Elite domestic developer of high-barrier epoxies, polyurethanes, and anti-corrosive coatings for infrastructure, oil &amp; gas, and naval defense.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Manufacturing Asset: Advanced manufacturing facility in GIDC Industrial Estate, Padra (Gujarat) with specialized analytical R&amp;D laboratory.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Ownership Structure: Closely held private company (Chokshi and Patel promoter families ~100% equity). Direct bilateral transaction route feasible.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Strategic Caution: High exposure to public capex cycles and institutional EPC contractors; verification of order book stickiness and debtor aging is essential.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26080"/>
            <a:ext cx="11064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110642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9008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MARPOL PRIVATE LIMITED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5A6B7C"/>
                </a:solidFill>
                <a:latin typeface="Arial"/>
              </a:rPr>
              <a:t>Unlisted Private Limited | Powder Coatings (Automotive/Appliance) | Revenue: ₹104.2 Cr (FY24-25)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4930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EBITDA %: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9300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11.6%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4930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PAT: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49300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₹6.4 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4930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D/E Ratio: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49300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0.26x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4930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Location: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49300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Ponda, Goa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70332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Market Position: Dedicated pure-play powder coatings formulator serving automotive OEM components, consumer appliances, and architectural extrusions.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Manufacturing Asset: Solvent-free electrostatic powder manufacturing facility in Ponda, Goa, providing lower environmental volatility profile.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Ownership Structure: Private ownership (Rao promoter family 100%). Modest leverage (D/E 0.26) provides clean recapitalization potential.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Strategic Caution: Customer concentration in white goods/appliances and freight logistics economics from Goa require thorough commercial validation.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572000"/>
            <a:ext cx="11064240" cy="34747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63600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SIDDHIKA COATINGS LIMITED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937760"/>
            <a:ext cx="10698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5A6B7C"/>
                </a:solidFill>
                <a:latin typeface="Arial"/>
              </a:rPr>
              <a:t>BSE SME Listed | Specialty Textured Architectural | Revenue: ₹54.9 Cr (FY25-26)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1389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EBITDA %: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513892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21.9%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1389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PAT: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13892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₹9.9 Cr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1389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D/E Ratio: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13892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0.00x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1389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Location: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513892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1E824C"/>
                </a:solidFill>
                <a:latin typeface="Arial"/>
              </a:rPr>
              <a:t>Greater Noida, 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34924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Market Position: Exclusive India strategic partner and applicator for SKK (Shikoku Kaken, Japan), specializing in premium textured and stone finishes.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Financial Profile: Robust 21.9% EBITDA margin and zero debt, supported by 3–4x average selling price premium over standard decorative emulsions.</a:t>
            </a:r>
          </a:p>
          <a:p>
            <a:pPr algn="l">
              <a:spcAft>
                <a:spcPts val="1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•  Strategic Caution: Critical dependency on Japanese technical partnership. Diligence must verify IP ownership, territorial exclusivity terms, and supply rights.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Target Prioritization Scorecard: Multi-Criteria Assessment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Weighted evaluation matrix: Financials (30%), Strategic Fit (25%), Asset Verification (20%), Deal Feasibility (25%).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1106424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SCORECARD METHODOLOGY &amp; CRITERIA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Financial Quality (30%): Verified revenue scale, 3-yr EBITDA margin consistency, cash flow generation, and conservative debt leverage.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Strategic &amp; Segment Fit (25%): Defensibility of formulation niche (Wood/PU, Marine, Powder, Resins), pricing power, and technological entry barriers.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Asset &amp; Plant Evidence (20%): Clarity of physical manufacturing address, industrial estate location, environmental compliance status, and capacity disclosure.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Deal Feasibility &amp; Structure (25%): Ownership concentration, promoter succession clarity, regulatory acquisition path (BSE Takeover Code vs. bilateral SPA).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224942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53288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Candidate 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423160"/>
            <a:ext cx="106070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532888"/>
            <a:ext cx="10241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Listing /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423160"/>
            <a:ext cx="106070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2532888"/>
            <a:ext cx="10241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Revenue (FY)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423160"/>
            <a:ext cx="87782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532888"/>
            <a:ext cx="8412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EBITDA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423160"/>
            <a:ext cx="78638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176" y="2532888"/>
            <a:ext cx="74980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Leverage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423160"/>
            <a:ext cx="133502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2532888"/>
            <a:ext cx="12984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Asset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423160"/>
            <a:ext cx="124358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2532888"/>
            <a:ext cx="120700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Strategic Fit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2423160"/>
            <a:ext cx="124358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2532888"/>
            <a:ext cx="120700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Dil. Complexity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98480" y="2423160"/>
            <a:ext cx="877824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35056" y="2532888"/>
            <a:ext cx="8412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Overall Rank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926080"/>
            <a:ext cx="22494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035808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D4E79"/>
                </a:solidFill>
                <a:latin typeface="Arial"/>
              </a:rPr>
              <a:t>Sirca Paints India Ltd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2926080"/>
            <a:ext cx="10607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71216" y="30358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Listed (BSE/NSE)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2926080"/>
            <a:ext cx="10607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68496" y="30358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₹492.0 Cr (FY26)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2926080"/>
            <a:ext cx="8778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65776" y="30358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20.1%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926080"/>
            <a:ext cx="7863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0176" y="3035808"/>
            <a:ext cx="749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0.07x (Low)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2926080"/>
            <a:ext cx="1335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03136" y="3035808"/>
            <a:ext cx="1298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High (Owned Plant)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926080"/>
            <a:ext cx="12435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74736" y="30358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High (Wood/PU Leader)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2926080"/>
            <a:ext cx="12435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54896" y="30358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Moderate (Takeover Code)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98480" y="2926080"/>
            <a:ext cx="8778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35056" y="30358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1E824C"/>
                </a:solidFill>
                <a:latin typeface="Arial"/>
              </a:rPr>
              <a:t>Rank 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383280"/>
            <a:ext cx="224942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" y="3493008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D4E79"/>
                </a:solidFill>
                <a:latin typeface="Arial"/>
              </a:rPr>
              <a:t>Jyoti Resins &amp; Adhesives Ltd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3383280"/>
            <a:ext cx="106070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71216" y="34930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Listed (BSE SME)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3383280"/>
            <a:ext cx="106070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68496" y="34930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₹315.0 Cr (FY26)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3383280"/>
            <a:ext cx="87782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5776" y="34930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27.0%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383280"/>
            <a:ext cx="78638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80176" y="3493008"/>
            <a:ext cx="749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0.00x (Nil)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3383280"/>
            <a:ext cx="133502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03136" y="3493008"/>
            <a:ext cx="1298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Moderate (GIDC Plant)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3383280"/>
            <a:ext cx="124358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74736" y="34930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High (Euro 7000 Brand)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3383280"/>
            <a:ext cx="124358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54896" y="34930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Moderate (Tender Offer)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98480" y="3383280"/>
            <a:ext cx="87782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35056" y="34930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1E824C"/>
                </a:solidFill>
                <a:latin typeface="Arial"/>
              </a:rPr>
              <a:t>Rank 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3840480"/>
            <a:ext cx="22494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5216" y="3950208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D4E79"/>
                </a:solidFill>
                <a:latin typeface="Arial"/>
              </a:rPr>
              <a:t>Grand Polycoats Co. Pvt Ltd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40" y="3840480"/>
            <a:ext cx="10607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71216" y="39502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Unlisted Private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31920" y="3840480"/>
            <a:ext cx="10607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68496" y="39502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₹385.2 Cr (FY26)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840480"/>
            <a:ext cx="8778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65776" y="39502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14.6%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3840480"/>
            <a:ext cx="7863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80176" y="3950208"/>
            <a:ext cx="749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0.18x (Low)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66560" y="3840480"/>
            <a:ext cx="1335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03136" y="3950208"/>
            <a:ext cx="1298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High (GIDC Padra)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38160" y="3840480"/>
            <a:ext cx="12435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74736" y="39502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High (Marine/Protective)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18320" y="3840480"/>
            <a:ext cx="12435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54896" y="39502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Low (Bilateral SPA)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698480" y="3840480"/>
            <a:ext cx="8778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735056" y="39502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1E824C"/>
                </a:solidFill>
                <a:latin typeface="Arial"/>
              </a:rPr>
              <a:t>Rank 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4297680"/>
            <a:ext cx="224942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6" y="4407408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D4E79"/>
                </a:solidFill>
                <a:latin typeface="Arial"/>
              </a:rPr>
              <a:t>Siddhika Coatings Ltd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34640" y="4297680"/>
            <a:ext cx="106070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71216" y="44074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Listed (BSE SME)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31920" y="4297680"/>
            <a:ext cx="106070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68496" y="44074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₹54.9 Cr (FY26)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0" y="4297680"/>
            <a:ext cx="87782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65776" y="44074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21.9%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943600" y="4297680"/>
            <a:ext cx="78638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80176" y="4407408"/>
            <a:ext cx="749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0.00x (Nil)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66560" y="4297680"/>
            <a:ext cx="133502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803136" y="4407408"/>
            <a:ext cx="1298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Moderate (UP Plant)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4297680"/>
            <a:ext cx="124358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74736" y="44074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High (Japanese Tech)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418320" y="4297680"/>
            <a:ext cx="124358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454896" y="44074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High (SKK JV Diligence)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4297680"/>
            <a:ext cx="877824" cy="429768"/>
          </a:xfrm>
          <a:prstGeom prst="rect">
            <a:avLst/>
          </a:prstGeom>
          <a:solidFill>
            <a:srgbClr val="EEF4F8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735056" y="44074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1E824C"/>
                </a:solidFill>
                <a:latin typeface="Arial"/>
              </a:rPr>
              <a:t>Rank 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4754880"/>
            <a:ext cx="22494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85216" y="4864608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D4E79"/>
                </a:solidFill>
                <a:latin typeface="Arial"/>
              </a:rPr>
              <a:t>Marpol Private Limited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834640" y="4754880"/>
            <a:ext cx="10607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871216" y="48646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1B2430"/>
                </a:solidFill>
                <a:latin typeface="Arial"/>
              </a:rPr>
              <a:t>Unlisted Private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31920" y="4754880"/>
            <a:ext cx="10607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68496" y="4864608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₹104.2 Cr (FY24)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0" y="4754880"/>
            <a:ext cx="8778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65776" y="48646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11.6%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4754880"/>
            <a:ext cx="7863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80176" y="4864608"/>
            <a:ext cx="749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0.26x (Low)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66560" y="4754880"/>
            <a:ext cx="1335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803136" y="4864608"/>
            <a:ext cx="1298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Moderate (Goa Plant)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38160" y="4754880"/>
            <a:ext cx="12435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174736" y="48646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Moderate (Powder Niche)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418320" y="4754880"/>
            <a:ext cx="124358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454896" y="486460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B2430"/>
                </a:solidFill>
                <a:latin typeface="Arial"/>
              </a:rPr>
              <a:t>Low (Bilateral SPA)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698480" y="4754880"/>
            <a:ext cx="8778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735056" y="486460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1E824C"/>
                </a:solidFill>
                <a:latin typeface="Arial"/>
              </a:rPr>
              <a:t>Rank 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48640" y="5349240"/>
            <a:ext cx="110642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8368" y="541324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SCORING INSIGHT &amp; REPRODUCIBILITY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1B2430"/>
                </a:solidFill>
                <a:latin typeface="Arial"/>
              </a:rPr>
              <a:t>Insight: While Jyoti Resins boasts the highest EBITDA margin (27.0%), Sirca Paints scores highest overall due to audited scale (₹492 Cr), verifiable automated facility assets, and institutional Italian technology partnership. Grand Polycoats presents the cleanest path for a 100% private buyout. All scores reflect objective criteria logged in the screening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Geographic Footprint: Manufacturing Corridors &amp; Industrial State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plant_locations.csv; State Industrial Development Corporations (GIDC, MIDC, SIPCOT, HSIIDC, RIICO, KIADB).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62179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621792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59984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MANUFACTURING PLANT CONCENTRATION — 126 PLANTS (14 STATES)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916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Maharashtra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728216"/>
            <a:ext cx="2011680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728216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6916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MIDC Ambad (Nashik), Tarapur, Taloja, Pune, Thane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07568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Gujarat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2112264"/>
            <a:ext cx="1624818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9962" y="2112264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0756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GIDC Padra, Ankleshwar, Vatva, Gandhinagar, Vapi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45973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Tamil Nadu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2496312"/>
            <a:ext cx="1160584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5728" y="2496312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45973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SIPCOT Gummidipoondi, Ranipet, Sriperumbudur, Chennai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84378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Karnataka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2880360"/>
            <a:ext cx="773723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8867" y="288036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284378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KIADB Dabaspet, Ramanagara, Peenya, Bidadi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278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Haryana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3264408"/>
            <a:ext cx="696350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1494" y="3264408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32278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HSIIDC Sonipat-Rai, Bawal, Faridabad Industrial Area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6118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Uttar Pradesh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3648456"/>
            <a:ext cx="618978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4122" y="3648456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3611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UPSIDC Sikandrabad, Greater Noida, Kanpur Belt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99592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Rajasthan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4032504"/>
            <a:ext cx="618978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4122" y="4032504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399592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RIICO Chopanki, Bhiwadi, Sitapura (Jaipur)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37997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West Bengal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4416552"/>
            <a:ext cx="464233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59377" y="4416552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37997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Howrah Industrial Belt, Dankuni, Kolkata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6402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Telangana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4800600"/>
            <a:ext cx="464233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59377" y="480060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476402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TSIIC Patancheru, Nacharam, Jeedimetla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14807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Punjab &amp; Kerala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5184648"/>
            <a:ext cx="773723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68867" y="5184648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514807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Ludhiana, Mohali (5 in Punjab); Edappal, Palakkad (5 in Kerala)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5321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1B2430"/>
                </a:solidFill>
                <a:latin typeface="Arial"/>
              </a:rPr>
              <a:t>Others (MP, Goa, OD, HP)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40280" y="5568696"/>
            <a:ext cx="541606" cy="2194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6750" y="5568696"/>
            <a:ext cx="320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5532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Pithampur, Mandideep (4 MP); Ponda (Goa); Bhubaneswar (OD)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40880" y="1280160"/>
            <a:ext cx="45720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40880" y="1280160"/>
            <a:ext cx="45720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50608" y="1344168"/>
            <a:ext cx="43525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STRATEGIC LOGISTICS &amp; CORRIDOR SYNERGIES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1737360"/>
            <a:ext cx="42062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▪  West Coast Chemical Supremacy: Maharashtra (26 plants) and Gujarat (21 plants) host &gt;37% of manufacturing capacity, benefiting from direct port proximity (Nhava Sheva, Mundra, Hazira) for solvent and resin chemical imports.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▪  Southern Auto &amp; Industrial Belt: Tamil Nadu (15 plants) and Karnataka (10 plants) anchor specialized formulations for automotive OEMs (Chennai auto corridor) and construction projects (Bengaluru-Mysuru corridor).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▪  Northern Architectural Cluster: Haryana (9 plants), UP (8 plants), and Rajasthan (8 plants) serve Delhi-NCR and Tier-2 construction demand.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▪  Logistical Synergies for Acquirers: Paint manufacturing involves high freight-to-weight ratios (typically 6–8% of sales); acquiring regional operating plants eliminates inter-state transport costs and state border logistics friction.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▪  Plant Address Verification: All 126 plants in the database carry specific street/industrial zone addresses verified via ROC annual filings and statutory filings.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Risk Management &amp; Due Diligence Framework: Key Gaps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Pre-acquisition diligence standards; Companies Act 2013; State PCB environmental clearance regulations.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3520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352044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33009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1. DATA INTEGRITY &amp; FINANCIAL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37360"/>
            <a:ext cx="3246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Unlisted Disclosure Variance: 90% of targets are unlisted private entities with varying disclosure levels in MCA annual returns.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Secondary Source Capacities: Installed capacities (MTPA/KLPA) are sourced from credit rating rationales and company profiles; true operational OEE requires engineering inspection.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Kamdhenu Ventures: Revenue listed as undisclosed/pending in the screening table due to recent corporate demerger of the paint division.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Mitigation Protocol: Mandate delivery of 3-year audited statutory audit reports, tax audit forms (3CD), and GST returns before commercial valuation.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520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5204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344168"/>
            <a:ext cx="33009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2. OWNERSHIP &amp; STRUCTURAL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246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Promoter Dependency: Businesses like Jyoti Resins and Grand Polycoats rely heavily on founder-promoters for key distributor and client relationships.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Foreign Technical Licensing: Sirca (Sirca Italy) and Siddhika (SKK Japan) depend on offshore technical partnerships. Licensing agreements must be vetted for change-of-control provisions.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Listing Rules: Sirca, Jyoti Resins, and Siddhika are publicly listed; acquisitions entail open offer obligations, minimum public float rules, and potential market run-up.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Mitigation Protocol: Structure earn-outs, key-person retention covenants (2–3 years), and non-compete agreements.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3520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520440" cy="34747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344168"/>
            <a:ext cx="33009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3. ENVIRONMENTAL &amp; REGULATORY RISKS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1737360"/>
            <a:ext cx="3246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State Pollution Control Boards (SPCB): Paint manufacturing involves VOCs, solvent recovery, and hazardous effluents requiring active Consent to Operate (CTO).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Tightening Environmental Norms: Solvent-based liquid lines face stringent emission standards; water-based and powder coating transitions require ongoing capex.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Land Title &amp; Factory Consents: Industrial plots in GIDC, MIDC, and HSIIDC require leasehold transfer permissions and unencumbered title deeds.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Mitigation Protocol: Engage certified Phase-I/Phase-II environmental auditors and perform title searches across sub-registrar registries.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Recommendations &amp; Proposed Next Steps: Phased Client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Proposed diligence phases contingent upon Acclime investment committee review and formal client mandate authorization.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11064240" cy="34747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STRATEGIC RECOMMENDATION &amp; PRIORITY CANDIDATES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9164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Screening Conclusion: The pipeline has verified that India's sub-₹1,000 Cr paint segment offers an active universe of 111 candidates. However, low revenue alone does not denote target availability or deal feasibility.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Priority Candidates for Deeper Investigation: Sirca Paints (Wood/PU), Grand Polycoats (Protective), Jyoti Resins (Resins), Siddhika (Specialty), and Marpol (Powder) represent the highest-scoring profiles across margin and asset criteria.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•  Action Rule: Advance these 5 targets to preliminary commercial profiling; do not initiate market outreach until client committee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269748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1576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1: CLIENT ALIGNMENT
(Weeks 1–3)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54680"/>
            <a:ext cx="2468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Present screening findings and shortlist to Acclime investment committee.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Refine mandate filters (listed vs. unlisted preference, target geography).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Select 2–3 final targets for detailed investigative profiling.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Deliverable: Approved Target Scope Memorandum.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6517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2651760"/>
            <a:ext cx="26974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71576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2: DESK-BASED PROFILING
(Weeks 4–7)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3154680"/>
            <a:ext cx="2468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Procure official MCA V3 filings, charge registries, and statutory filings.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Assess customer concentration and segment supply contracts via public data.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Analyze foreign technical licensing agreements (SKK Japan, Sirca Italy).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Deliverable: Target Confidential Dossiers.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517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651760"/>
            <a:ext cx="2697480" cy="34747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271576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3: FEASIBILITY &amp; OUTREACH
(Weeks 8–11)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154680"/>
            <a:ext cx="2468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Identify appropriate intermediary or informal outreach channel.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Engage promoter groups discreetly to test transaction willingness.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Assess valuation expectations against industry multiples (EV/EBITDA).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Deliverable: Management Engagement Summary.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26517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2651760"/>
            <a:ext cx="2697480" cy="347472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271576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4: BILATERAL DILIGENCE
(Weeks 12+)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3154680"/>
            <a:ext cx="2468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Execute bilateral Non-Disclosure Agreement (NDA).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Initiate formal Financial, Legal, Environmental, and Tax Diligence.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Draft Non-Binding Letter of Intent (LOI) with escrow / earn-out terms.</a:t>
            </a:r>
          </a:p>
          <a:p>
            <a:pPr algn="l">
              <a:spcAft>
                <a:spcPts val="400"/>
              </a:spcAft>
            </a:pPr>
            <a:r>
              <a:rPr sz="850">
                <a:solidFill>
                  <a:srgbClr val="1B2430"/>
                </a:solidFill>
                <a:latin typeface="Arial"/>
              </a:rPr>
              <a:t>▸  Deliverable: Formal Transaction Term Sheet.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D99B26"/>
                </a:solidFill>
                <a:latin typeface="Arial"/>
              </a:rPr>
              <a:t>ACCLIME STRATEGY &amp; AI  |  M&amp;A TARGET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Appendix: Technical Implementation, Deliverables Reconciliation &amp;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Arial"/>
              </a:rPr>
              <a:t>Acclime Strategy &amp; International Business  |  Preliminary Deal Origination Intelligence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B7C"/>
                </a:solidFill>
                <a:latin typeface="Arial"/>
              </a:rPr>
              <a:t>Sources &amp; Notes: GitHub: Shauryasinghh25/Acclime-Indian-paints-coatings-screening- | SQLite WAL mode | Streamlit live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5303520" cy="347472"/>
          </a:xfrm>
          <a:prstGeom prst="rect">
            <a:avLst/>
          </a:prstGeom>
          <a:solidFill>
            <a:srgbClr val="1D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44168"/>
            <a:ext cx="50840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PROJECT DELIVERABLES &amp; RECONCILIATION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916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acquisition_screening.csv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6916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123 records: 111 shortlisted + 12 PASS exclusions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company_master.csv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98424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123 canonical corporate entities (100% 21-char CINs)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27685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plant_locations.csv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27685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126 manufacturing plant sites across 14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56946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financial_analysis.csv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56946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276 fiscal statements (1,932 financial observations)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62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ownership_analysis.csv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620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264 shareholder/promoter and governance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evidence_register.csv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15468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648 citations with 100% source URL 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4728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excluded_companies.csv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44728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12 documented exclusions (10 scale + 2 trading)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3989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indian_paints_mna_database.xlsx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3989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8 formatted sheets (verified in openpyxl)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3250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paints_database.db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03250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Production SQLite database with foreign keys &amp; WAL mode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28016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280160"/>
            <a:ext cx="54864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1344168"/>
            <a:ext cx="52669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CODEBASE PIPELINE MODULES &amp; REPRODUCIBILITY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6916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discovery_scraper.py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169164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Automated Screener API harvester (15 queries)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19842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company_scraper.py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198424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CIN validation &amp; legal entity profile ingestion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27685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financial_scraper.py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27685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Screener audited P&amp;L parser &amp; rating rationale records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56946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plant_scraper.py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256946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126 facility addresses mapped across 14 states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8620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ownership_scraper.py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286207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Promoter cap tables &amp; board governance tracker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1546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data_cleaning.py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315468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Legal name normalizer, state lookup, financial ratios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44728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acquisition_screener.py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344728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₹1,000 Cr threshold evaluation &amp; recommendation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37398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storage.py / db.py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373989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SQLite persistence manager with CIN deduplication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032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pipeline.py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03250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Master 8-phase orchestrator (end-to-end execution)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3251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2A47"/>
                </a:solidFill>
                <a:latin typeface="Arial"/>
              </a:rPr>
              <a:t>dashboard.py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32511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1B2430"/>
                </a:solidFill>
                <a:latin typeface="Arial"/>
              </a:rPr>
              <a:t>– Interactive Streamlit analytics app (Plotly visual charts)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663440"/>
            <a:ext cx="11064240" cy="34747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4727448"/>
            <a:ext cx="1084478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TECHNICAL REPRODUCIBILITY COMMANDS &amp; SCOPE LIMITATIONS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983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$  Run Unit Test Suite:  pytest -v   (11 automated tests covering normalization, CIN regex, screening logic, &gt;=100 count)</a:t>
            </a:r>
          </a:p>
          <a:p>
            <a:pPr algn="l">
              <a:spcAft>
                <a:spcPts val="4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$  Execute Full Pipeline:  python -m scraper_engine.pipeline   (Re-harvests, cleans, recalculates, and exports all 11 CSVs + Excel)</a:t>
            </a:r>
          </a:p>
          <a:p>
            <a:pPr algn="l">
              <a:spcAft>
                <a:spcPts val="4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$  Launch Live Dashboard:  streamlit run dashboard.py   (Interactive visual screening, scatter plots, geographic maps on port 8501)</a:t>
            </a:r>
          </a:p>
          <a:p>
            <a:pPr algn="l">
              <a:spcAft>
                <a:spcPts val="400"/>
              </a:spcAft>
            </a:pPr>
            <a:r>
              <a:rPr sz="800">
                <a:solidFill>
                  <a:srgbClr val="1B2430"/>
                </a:solidFill>
                <a:latin typeface="Arial"/>
              </a:rPr>
              <a:t>$  Scope Limitations: Data reflects public statutory filings and disclosures current as of FY24–FY26. Plant capacities, land ownership titles, and pending litigations require formal on-site bilateral due diligence before transaction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